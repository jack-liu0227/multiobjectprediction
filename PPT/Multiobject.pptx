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47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99AFED-1CF1-7F5F-BA03-B95F2E7994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BDBA03-930A-F7F6-2255-E3E72B03AF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CA8B32-BD0C-4D35-372E-13AAD5A81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50270-3935-4931-83A8-E8B70CC0B2B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394132-A2DA-A5CB-BDF0-440C09484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FEE5BA-6D93-AE7E-7BDC-A262862FD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D7B19-9F30-4E5D-B9BD-B3107CDDF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842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31AC60-26B0-80EA-A59B-E4528FFC3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F21860-09FD-76D1-1A2C-543245DEE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21DCB6-E83B-58CE-469C-9B3F91B5E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50270-3935-4931-83A8-E8B70CC0B2B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8C2D75-A012-DCF1-4664-90361F112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6BEC0E-AB72-DFC3-4913-0A2994D87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D7B19-9F30-4E5D-B9BD-B3107CDDF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480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F77449-EDC0-146B-5BF6-7AA2D0723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B038DB-967D-FAAE-2B87-8EAA44EB2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75F6EF-FA69-3FBC-B141-0154B01B0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50270-3935-4931-83A8-E8B70CC0B2B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41B3EB-168A-8141-B984-EDAE30568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3A7ECA-0E0F-05AD-AC26-6102B38AE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D7B19-9F30-4E5D-B9BD-B3107CDDF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4701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87CC46-5E42-6561-9F05-C27B8EFC6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4B584D-E516-B03F-F591-BCDCF69196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B61A22-A503-3A63-2292-2CD3EF8BD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AE1C28-0EC4-9A6A-FF22-7B3F99FBF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50270-3935-4931-83A8-E8B70CC0B2B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A2A912-0CC8-D3DC-24DF-D39EF7460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00266A-6F26-7624-835F-B7B59B659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D7B19-9F30-4E5D-B9BD-B3107CDDF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45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F79FB2-B619-782A-F07E-24FC1B3F8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E3B50F-B5B6-1AF9-3FF6-1DADFB9D8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29E423-4CAC-BCFC-A959-8C5739216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3CA37F1-BA99-3112-F7A6-751416A0DC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23A60A8-423E-84F2-4AAE-EE1773EE0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F5706FE-52BD-0E4D-8E96-1FDAC1453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50270-3935-4931-83A8-E8B70CC0B2B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18C74D0-35FB-FC1F-AC59-3AEF2EC06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B6F23B4-27F8-715F-6A70-F875B0DC0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D7B19-9F30-4E5D-B9BD-B3107CDDF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823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350520-7C00-14BF-7576-2E5D83381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188B001-8F02-7DC1-C286-32894DF36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50270-3935-4931-83A8-E8B70CC0B2B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07F567C-461B-7471-66E4-8EC998045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BD078AA-BA92-CB19-D7CC-3E31EE538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D7B19-9F30-4E5D-B9BD-B3107CDDF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969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F775ED4-D4F6-D3A3-9642-A2E3F213B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50270-3935-4931-83A8-E8B70CC0B2B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8F30135-418D-6F76-B027-1357CE894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7BCBF7-660E-BC5D-1335-406EA43C6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D7B19-9F30-4E5D-B9BD-B3107CDDF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117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C4978B-0A52-A782-0ABB-BFDB836FA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A420BA-C5E5-A8CE-B99C-028D6362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5ECE91-CFCD-5297-50AC-BFA2576F5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820B8F-14D0-D5B3-28FC-125BA588D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50270-3935-4931-83A8-E8B70CC0B2B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281BE6-D99C-F62C-7E21-79201490C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9A160E-75C8-6D4D-9E14-9838D4CC1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D7B19-9F30-4E5D-B9BD-B3107CDDF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6200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B89D3D-02DA-3799-ED30-6EAD16BC5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CBE3CBF-1441-F5A7-494E-D8A191BFCD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9635A9-299B-2269-81E7-68F310254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BE6EC3-D224-259C-CD32-9BE7D7F7A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50270-3935-4931-83A8-E8B70CC0B2B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2E480C-4F35-9AD0-5495-EB16491CB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AC34ED-5460-0935-2C02-506B83094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D7B19-9F30-4E5D-B9BD-B3107CDDF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077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B42A18-8918-E9F0-5192-A8414D05C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7AFE538-2400-9E9C-12FC-327E68E8B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D455C2-DE5C-9B58-F4ED-18B26E2B8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50270-3935-4931-83A8-E8B70CC0B2B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7688FA-5A94-18F0-82FF-545F6C131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EC9A79-6089-058D-6006-A7538AD29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D7B19-9F30-4E5D-B9BD-B3107CDDF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923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DE0ED2F-4057-874D-087A-AF3DD9D3A9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B018123-194A-39A6-25A3-A27DF632F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8D70DE-D81A-CB11-4AF1-DC8C80881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50270-3935-4931-83A8-E8B70CC0B2B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6B74DD-0EEB-2679-6CA5-A352A01AF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D36E39-5EDC-17B1-1D2F-FF7506215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D7B19-9F30-4E5D-B9BD-B3107CDDF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459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3EE8519-4231-93D3-D0A7-3E970F2D3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10E08E-D73A-B2E9-FF33-A99FC57DC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AAA323-B94F-4759-547C-43AB8B0FE7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450270-3935-4931-83A8-E8B70CC0B2B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BF0EAD-BEB5-99AE-F6EE-C788D5F0BE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16C6A0-E23B-16B5-2861-1C7ECDBAD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D7B19-9F30-4E5D-B9BD-B3107CDDF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472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AAA09E5-327A-838F-146D-3F539FD1357B}"/>
              </a:ext>
            </a:extLst>
          </p:cNvPr>
          <p:cNvSpPr txBox="1"/>
          <p:nvPr/>
        </p:nvSpPr>
        <p:spPr>
          <a:xfrm>
            <a:off x="935926" y="713980"/>
            <a:ext cx="8749332" cy="5828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sz="1100" dirty="0">
                <a:effectLst/>
                <a:latin typeface="Consolas" panose="020B0609020204030204" pitchFamily="49" charset="0"/>
              </a:rPr>
              <a:t>### FEW-SHOT AUGMENTED CORRECTION PROTOCOL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dirty="0">
                <a:effectLst/>
                <a:latin typeface="Consolas" panose="020B0609020204030204" pitchFamily="49" charset="0"/>
              </a:rPr>
              <a:t>**Task**: Predict {</a:t>
            </a:r>
            <a:r>
              <a:rPr lang="en-US" altLang="zh-CN" sz="1100" dirty="0" err="1">
                <a:effectLst/>
                <a:latin typeface="Consolas" panose="020B0609020204030204" pitchFamily="49" charset="0"/>
              </a:rPr>
              <a:t>target_properties_list</a:t>
            </a:r>
            <a:r>
              <a:rPr lang="en-US" altLang="zh-CN" sz="1100" dirty="0">
                <a:effectLst/>
                <a:latin typeface="Consolas" panose="020B0609020204030204" pitchFamily="49" charset="0"/>
              </a:rPr>
              <a:t>} for the target material using systematic analysis.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dirty="0">
                <a:effectLst/>
                <a:latin typeface="Consolas" panose="020B0609020204030204" pitchFamily="49" charset="0"/>
              </a:rPr>
              <a:t>{</a:t>
            </a:r>
            <a:r>
              <a:rPr lang="en-US" altLang="zh-CN" sz="1100" dirty="0" err="1">
                <a:effectLst/>
                <a:latin typeface="Consolas" panose="020B0609020204030204" pitchFamily="49" charset="0"/>
              </a:rPr>
              <a:t>reference_section</a:t>
            </a:r>
            <a:r>
              <a:rPr lang="en-US" altLang="zh-CN" sz="1100" dirty="0"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dirty="0">
                <a:effectLst/>
                <a:latin typeface="Consolas" panose="020B0609020204030204" pitchFamily="49" charset="0"/>
              </a:rPr>
              <a:t>**Target Material**: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dirty="0">
                <a:effectLst/>
                <a:latin typeface="Consolas" panose="020B0609020204030204" pitchFamily="49" charset="0"/>
              </a:rPr>
              <a:t>{</a:t>
            </a:r>
            <a:r>
              <a:rPr lang="en-US" altLang="zh-CN" sz="1100" dirty="0" err="1">
                <a:effectLst/>
                <a:latin typeface="Consolas" panose="020B0609020204030204" pitchFamily="49" charset="0"/>
              </a:rPr>
              <a:t>test_sample</a:t>
            </a:r>
            <a:r>
              <a:rPr lang="en-US" altLang="zh-CN" sz="1100" dirty="0"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dirty="0">
                <a:effectLst/>
                <a:latin typeface="Consolas" panose="020B0609020204030204" pitchFamily="49" charset="0"/>
              </a:rPr>
              <a:t>**Required Analysis Protocol**: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dirty="0">
                <a:effectLst/>
                <a:latin typeface="Consolas" panose="020B0609020204030204" pitchFamily="49" charset="0"/>
              </a:rPr>
              <a:t>1. **Reference-Driven Baseline Establishment**: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dirty="0">
                <a:effectLst/>
                <a:latin typeface="Consolas" panose="020B0609020204030204" pitchFamily="49" charset="0"/>
              </a:rPr>
              <a:t>- **Classification**: First, classify the general family of all materials involved (references and target).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dirty="0">
                <a:effectLst/>
                <a:latin typeface="Consolas" panose="020B0609020204030204" pitchFamily="49" charset="0"/>
              </a:rPr>
              <a:t>- **Primary Baseline Selection**: From the provided `Reference Samples`, identify the single sample that is the **most analogous** to the `Target Material`. This sample and its `Known True Values` will serve as your **primary baseline**. Justify your choice.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dirty="0">
                <a:effectLst/>
                <a:latin typeface="Consolas" panose="020B0609020204030204" pitchFamily="49" charset="0"/>
              </a:rPr>
              <a:t>- **Sanity Check (Optional but Recommended)**: Use your general knowledge of standard materials as a secondary check.</a:t>
            </a:r>
          </a:p>
          <a:p>
            <a:pPr>
              <a:lnSpc>
                <a:spcPts val="1425"/>
              </a:lnSpc>
              <a:buNone/>
            </a:pPr>
            <a:endParaRPr lang="en-US" altLang="zh-CN" sz="110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100" dirty="0">
                <a:effectLst/>
                <a:latin typeface="Consolas" panose="020B0609020204030204" pitchFamily="49" charset="0"/>
              </a:rPr>
              <a:t>2. **Plausibility Assessment**: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dirty="0">
                <a:effectLst/>
                <a:latin typeface="Consolas" panose="020B0609020204030204" pitchFamily="49" charset="0"/>
              </a:rPr>
              <a:t>- Assess the expected range for each target property based on your selected **primary baseline sample**.</a:t>
            </a:r>
          </a:p>
          <a:p>
            <a:pPr marL="171450" indent="-171450">
              <a:lnSpc>
                <a:spcPts val="1425"/>
              </a:lnSpc>
              <a:buFontTx/>
              <a:buChar char="-"/>
            </a:pPr>
            <a:r>
              <a:rPr lang="en-US" altLang="zh-CN" sz="1100" dirty="0">
                <a:effectLst/>
                <a:latin typeface="Consolas" panose="020B0609020204030204" pitchFamily="49" charset="0"/>
              </a:rPr>
              <a:t>Consider the relationships between properties when applicable (e.g., strength-ductility trade-offs).</a:t>
            </a:r>
          </a:p>
          <a:p>
            <a:pPr marL="171450" indent="-171450">
              <a:lnSpc>
                <a:spcPts val="1425"/>
              </a:lnSpc>
              <a:buFontTx/>
              <a:buChar char="-"/>
            </a:pPr>
            <a:endParaRPr lang="en-US" altLang="zh-CN" sz="110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100" dirty="0">
                <a:effectLst/>
                <a:latin typeface="Consolas" panose="020B0609020204030204" pitchFamily="49" charset="0"/>
              </a:rPr>
              <a:t>3. **Interpolative Correction &amp; Justification**: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dirty="0">
                <a:effectLst/>
                <a:latin typeface="Consolas" panose="020B0609020204030204" pitchFamily="49" charset="0"/>
              </a:rPr>
              <a:t>- Formulate corrected values for each property.</a:t>
            </a:r>
          </a:p>
          <a:p>
            <a:pPr marL="171450" indent="-171450">
              <a:lnSpc>
                <a:spcPts val="1425"/>
              </a:lnSpc>
              <a:buFontTx/>
              <a:buChar char="-"/>
            </a:pPr>
            <a:r>
              <a:rPr lang="en-US" altLang="zh-CN" sz="1100" dirty="0">
                <a:effectLst/>
                <a:latin typeface="Consolas" panose="020B0609020204030204" pitchFamily="49" charset="0"/>
              </a:rPr>
              <a:t>Your reasoning must be an **interpolation or extrapolation** from the primary baseline. Quantify how the **differences in characteristics** between the target and the baseline sample translate into specific property adjustments.</a:t>
            </a:r>
          </a:p>
          <a:p>
            <a:pPr marL="171450" indent="-171450">
              <a:lnSpc>
                <a:spcPts val="1425"/>
              </a:lnSpc>
              <a:buFontTx/>
              <a:buChar char="-"/>
            </a:pPr>
            <a:endParaRPr lang="en-US" altLang="zh-CN" sz="110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100" dirty="0">
                <a:effectLst/>
                <a:latin typeface="Consolas" panose="020B0609020204030204" pitchFamily="49" charset="0"/>
              </a:rPr>
              <a:t>- Use fundamental materials principles to support *why* these differences lead to your calculated adjustments.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dirty="0">
                <a:effectLst/>
                <a:latin typeface="Consolas" panose="020B0609020204030204" pitchFamily="49" charset="0"/>
              </a:rPr>
              <a:t>Provide your systematic analysis and end with EXACTLY this JSON format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dirty="0">
                <a:effectLst/>
                <a:latin typeface="Consolas" panose="020B0609020204030204" pitchFamily="49" charset="0"/>
              </a:rPr>
              <a:t>{{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dirty="0">
                <a:effectLst/>
                <a:latin typeface="Consolas" panose="020B0609020204030204" pitchFamily="49" charset="0"/>
              </a:rPr>
              <a:t>"predictions": {{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dirty="0">
                <a:effectLst/>
                <a:latin typeface="Consolas" panose="020B0609020204030204" pitchFamily="49" charset="0"/>
              </a:rPr>
              <a:t>  {</a:t>
            </a:r>
            <a:r>
              <a:rPr lang="en-US" altLang="zh-CN" sz="1100" dirty="0" err="1">
                <a:effectLst/>
                <a:latin typeface="Consolas" panose="020B0609020204030204" pitchFamily="49" charset="0"/>
              </a:rPr>
              <a:t>predictions_json_template</a:t>
            </a:r>
            <a:r>
              <a:rPr lang="en-US" altLang="zh-CN" sz="1100" dirty="0"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dirty="0">
                <a:effectLst/>
                <a:latin typeface="Consolas" panose="020B0609020204030204" pitchFamily="49" charset="0"/>
              </a:rPr>
              <a:t>          }},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dirty="0">
                <a:effectLst/>
                <a:latin typeface="Consolas" panose="020B0609020204030204" pitchFamily="49" charset="0"/>
              </a:rPr>
              <a:t>"reasoning": "&lt;</a:t>
            </a:r>
            <a:r>
              <a:rPr lang="en-US" altLang="zh-CN" sz="1100" dirty="0" err="1">
                <a:effectLst/>
                <a:latin typeface="Consolas" panose="020B0609020204030204" pitchFamily="49" charset="0"/>
              </a:rPr>
              <a:t>your_analysis_summary</a:t>
            </a:r>
            <a:r>
              <a:rPr lang="en-US" altLang="zh-CN" sz="1100" dirty="0">
                <a:effectLst/>
                <a:latin typeface="Consolas" panose="020B0609020204030204" pitchFamily="49" charset="0"/>
              </a:rPr>
              <a:t>&gt;"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dirty="0">
                <a:effectLst/>
                <a:latin typeface="Consolas" panose="020B0609020204030204" pitchFamily="49" charset="0"/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1115204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7BE883C-482A-C323-CFEE-F92D918A9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53" y="1165670"/>
            <a:ext cx="12192000" cy="466607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7107979-36C9-7277-6321-C5086E75E8B3}"/>
              </a:ext>
            </a:extLst>
          </p:cNvPr>
          <p:cNvSpPr txBox="1"/>
          <p:nvPr/>
        </p:nvSpPr>
        <p:spPr>
          <a:xfrm>
            <a:off x="684773" y="328036"/>
            <a:ext cx="11083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1.Upload the dataset then select the dataset, such as HEA data from Yasir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9368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85827-FE95-227C-1422-42F2B5718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B4CCE66-F887-0795-9B8A-E08A555FB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452" y="82009"/>
            <a:ext cx="9729839" cy="6858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AC00EFB-D39D-3371-C636-B44487C74C39}"/>
              </a:ext>
            </a:extLst>
          </p:cNvPr>
          <p:cNvSpPr txBox="1"/>
          <p:nvPr/>
        </p:nvSpPr>
        <p:spPr>
          <a:xfrm>
            <a:off x="109688" y="3139664"/>
            <a:ext cx="29492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2.Choose the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compostion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processing and target property columns</a:t>
            </a:r>
          </a:p>
        </p:txBody>
      </p:sp>
    </p:spTree>
    <p:extLst>
      <p:ext uri="{BB962C8B-B14F-4D97-AF65-F5344CB8AC3E}">
        <p14:creationId xmlns:p14="http://schemas.microsoft.com/office/powerpoint/2010/main" val="3270999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0ED924B-4880-B1D5-207B-AA16066CB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399" y="729880"/>
            <a:ext cx="9117824" cy="575908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E246F35-82C7-9590-A99D-2B0F41461AE4}"/>
              </a:ext>
            </a:extLst>
          </p:cNvPr>
          <p:cNvSpPr txBox="1"/>
          <p:nvPr/>
        </p:nvSpPr>
        <p:spPr>
          <a:xfrm>
            <a:off x="124095" y="1844317"/>
            <a:ext cx="24009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Divide the data set into training set and test set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5791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E87D56E-B4C1-E176-46C0-C58D0E813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467" y="0"/>
            <a:ext cx="7840533" cy="6858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68D8341-A8F1-E88B-9870-0EB2F4F8538A}"/>
              </a:ext>
            </a:extLst>
          </p:cNvPr>
          <p:cNvSpPr txBox="1"/>
          <p:nvPr/>
        </p:nvSpPr>
        <p:spPr>
          <a:xfrm>
            <a:off x="469819" y="1785594"/>
            <a:ext cx="38816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Preview the sample through RAG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6901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F870778-7D90-B60D-5234-3CEACD2BC2C2}"/>
              </a:ext>
            </a:extLst>
          </p:cNvPr>
          <p:cNvSpPr txBox="1"/>
          <p:nvPr/>
        </p:nvSpPr>
        <p:spPr>
          <a:xfrm>
            <a:off x="493698" y="1379518"/>
            <a:ext cx="6095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5.Choose the LLM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251F7B3-9F8C-4BBF-43A0-104A66420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070" y="111351"/>
            <a:ext cx="6734094" cy="663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735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4BDCD6E-2529-8D02-4B02-9B9D6BE47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6" y="0"/>
            <a:ext cx="74435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019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BF32287-28E0-906D-DC1F-660CDBE18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4808"/>
            <a:ext cx="12192000" cy="416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560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338</Words>
  <Application>Microsoft Office PowerPoint</Application>
  <PresentationFormat>宽屏</PresentationFormat>
  <Paragraphs>32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等线 Light</vt:lpstr>
      <vt:lpstr>微软雅黑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Yujie Liu</dc:creator>
  <cp:lastModifiedBy>Yujie Liu</cp:lastModifiedBy>
  <cp:revision>14</cp:revision>
  <dcterms:created xsi:type="dcterms:W3CDTF">2025-12-03T04:38:26Z</dcterms:created>
  <dcterms:modified xsi:type="dcterms:W3CDTF">2025-12-03T06:02:36Z</dcterms:modified>
</cp:coreProperties>
</file>